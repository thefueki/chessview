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C48C452D-EEE5-4CCB-9A35-913D456ADE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49E173-576E-4C4B-99A9-1465C54607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0707"/>
              </a:gs>
              <a:gs pos="48000">
                <a:srgbClr val="080808"/>
              </a:gs>
              <a:gs pos="100000">
                <a:srgbClr val="17122A"/>
              </a:gs>
            </a:gsLst>
            <a:lin ang="75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DAE1E2-B0E7-47C7-B54F-CA1AED75FCB6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381000" cy="381000"/>
          </a:xfrm>
          <a:prstGeom prst="rect">
            <a:avLst/>
          </a:prstGeom>
          <a:gradFill>
            <a:gsLst>
              <a:gs pos="0">
                <a:srgbClr val="13D0BB"/>
              </a:gs>
              <a:gs pos="100000">
                <a:srgbClr val="865DFF"/>
              </a:gs>
            </a:gsLst>
            <a:lin ang="8100000"/>
          </a:gradFill>
          <a:ln w="9525">
            <a:solidFill>
              <a:srgbClr val="2B2B2B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7CADE6-F39C-4994-A22A-B5BC7B58576A}"/>
              </a:ext>
            </a:extLst>
          </p:cNvPr>
          <p:cNvSpPr>
            <a:spLocks noGrp="1"/>
          </p:cNvSpPr>
          <p:nvPr/>
        </p:nvSpPr>
        <p:spPr>
          <a:xfrm>
            <a:off x="723900" y="581025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CV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4D9993-8E99-4C16-99E8-40524886DE6A}"/>
              </a:ext>
            </a:extLst>
          </p:cNvPr>
          <p:cNvSpPr>
            <a:spLocks noGrp="1"/>
          </p:cNvSpPr>
          <p:nvPr/>
        </p:nvSpPr>
        <p:spPr>
          <a:xfrm>
            <a:off x="1104900" y="5524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ChessView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E240B0-C2E4-4950-BB69-ED4957B417A4}"/>
              </a:ext>
            </a:extLst>
          </p:cNvPr>
          <p:cNvSpPr>
            <a:spLocks noGrp="1"/>
          </p:cNvSpPr>
          <p:nvPr/>
        </p:nvSpPr>
        <p:spPr>
          <a:xfrm>
            <a:off x="9525000" y="5524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B5A9"/>
                </a:solidFill>
                <a:latin typeface="Arial"/>
                <a:ea typeface="Arial"/>
                <a:cs typeface="Arial"/>
              </a:rPr>
              <a:t>Дипломный проект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B737EC-55CA-4F32-BD01-F70AEE4FCE84}"/>
              </a:ext>
            </a:extLst>
          </p:cNvPr>
          <p:cNvSpPr>
            <a:spLocks noGrp="1"/>
          </p:cNvSpPr>
          <p:nvPr/>
        </p:nvSpPr>
        <p:spPr>
          <a:xfrm>
            <a:off x="11144250" y="5524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865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65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2A2D23-D0A3-4A9D-BBBD-555F89A92B8E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9525"/>
          </a:xfrm>
          <a:prstGeom prst="rect">
            <a:avLst/>
          </a:prstGeom>
          <a:solidFill>
            <a:srgbClr val="2A2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0D089A-FBC1-4805-9D1E-3EB9ADC40E9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6572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Разработка веб-приложения</a:t>
            </a:r>
          </a:p>
          <a:p>
            <a:pPr algn="l"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ChessView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4B1C4E-3D04-46EB-AD77-908ACB0AC9B3}"/>
              </a:ext>
            </a:extLst>
          </p:cNvPr>
          <p:cNvSpPr>
            <a:spLocks noGrp="1"/>
          </p:cNvSpPr>
          <p:nvPr/>
        </p:nvSpPr>
        <p:spPr>
          <a:xfrm>
            <a:off x="723900" y="2619375"/>
            <a:ext cx="590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Шахматная онлайн-платформа с live-партиями, WebSocket-событиями, анализом позиций, турнирами и административной панелью.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D7DD5D-4116-46B9-84B4-1603DF19402E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5143500" cy="9525"/>
          </a:xfrm>
          <a:prstGeom prst="rect">
            <a:avLst/>
          </a:prstGeom>
          <a:solidFill>
            <a:srgbClr val="3333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440A98-830F-40C4-A5DA-C66CEAF94D00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837A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37A70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04C552-8C46-4E9E-9106-A2A27B290A97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Сакенов Ануар Сункарулы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E800C1-D2D3-4354-A27B-0115FB50D0F0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837A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37A70"/>
                </a:solidFill>
                <a:latin typeface="Arial"/>
                <a:ea typeface="Arial"/>
                <a:cs typeface="Arial"/>
              </a:rPr>
              <a:t>Руководитель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23A6EA-2AA7-45B5-871B-A40915649CD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533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Мартынцов Николай Викторович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06531B-0F52-40D2-8DA2-CC54062CC51D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Astana IT University College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C93223-E506-4131-A12E-0AA108CBD262}"/>
              </a:ext>
            </a:extLst>
          </p:cNvPr>
          <p:cNvSpPr>
            <a:spLocks noGrp="1"/>
          </p:cNvSpPr>
          <p:nvPr/>
        </p:nvSpPr>
        <p:spPr>
          <a:xfrm>
            <a:off x="685800" y="58864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Астана, 2026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BD29C5-06AD-478D-BDE4-FF69E8E2DA29}"/>
              </a:ext>
            </a:extLst>
          </p:cNvPr>
          <p:cNvSpPr>
            <a:spLocks noGrp="1"/>
          </p:cNvSpPr>
          <p:nvPr/>
        </p:nvSpPr>
        <p:spPr>
          <a:xfrm>
            <a:off x="8001000" y="196215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88B066-2545-4DFE-BDEB-5975C07A08F8}"/>
              </a:ext>
            </a:extLst>
          </p:cNvPr>
          <p:cNvSpPr>
            <a:spLocks noGrp="1"/>
          </p:cNvSpPr>
          <p:nvPr/>
        </p:nvSpPr>
        <p:spPr>
          <a:xfrm>
            <a:off x="8372475" y="196215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3EBD3C-4778-46FB-90C4-5CB971F41116}"/>
              </a:ext>
            </a:extLst>
          </p:cNvPr>
          <p:cNvSpPr>
            <a:spLocks noGrp="1"/>
          </p:cNvSpPr>
          <p:nvPr/>
        </p:nvSpPr>
        <p:spPr>
          <a:xfrm>
            <a:off x="8743950" y="196215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82CB1F-E0A0-45AB-B735-9A1B064199DD}"/>
              </a:ext>
            </a:extLst>
          </p:cNvPr>
          <p:cNvSpPr>
            <a:spLocks noGrp="1"/>
          </p:cNvSpPr>
          <p:nvPr/>
        </p:nvSpPr>
        <p:spPr>
          <a:xfrm>
            <a:off x="9115425" y="196215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D90D03-EE35-42EE-AAD9-E0635376A6D8}"/>
              </a:ext>
            </a:extLst>
          </p:cNvPr>
          <p:cNvSpPr>
            <a:spLocks noGrp="1"/>
          </p:cNvSpPr>
          <p:nvPr/>
        </p:nvSpPr>
        <p:spPr>
          <a:xfrm>
            <a:off x="9486900" y="196215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69E586-7FAA-43FA-A994-17C94F39F59F}"/>
              </a:ext>
            </a:extLst>
          </p:cNvPr>
          <p:cNvSpPr>
            <a:spLocks noGrp="1"/>
          </p:cNvSpPr>
          <p:nvPr/>
        </p:nvSpPr>
        <p:spPr>
          <a:xfrm>
            <a:off x="9858375" y="196215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A0802A-48E2-4554-A80F-FC71F8BB37BE}"/>
              </a:ext>
            </a:extLst>
          </p:cNvPr>
          <p:cNvSpPr>
            <a:spLocks noGrp="1"/>
          </p:cNvSpPr>
          <p:nvPr/>
        </p:nvSpPr>
        <p:spPr>
          <a:xfrm>
            <a:off x="10229850" y="196215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CAD266-E651-4724-A66F-565D29AC58C9}"/>
              </a:ext>
            </a:extLst>
          </p:cNvPr>
          <p:cNvSpPr>
            <a:spLocks noGrp="1"/>
          </p:cNvSpPr>
          <p:nvPr/>
        </p:nvSpPr>
        <p:spPr>
          <a:xfrm>
            <a:off x="10601325" y="196215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27AEF8-A69B-482A-98E1-A1DC8A949428}"/>
              </a:ext>
            </a:extLst>
          </p:cNvPr>
          <p:cNvSpPr>
            <a:spLocks noGrp="1"/>
          </p:cNvSpPr>
          <p:nvPr/>
        </p:nvSpPr>
        <p:spPr>
          <a:xfrm>
            <a:off x="8001000" y="233362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EFD19D-8845-4399-88AF-7C8C9737FCBD}"/>
              </a:ext>
            </a:extLst>
          </p:cNvPr>
          <p:cNvSpPr>
            <a:spLocks noGrp="1"/>
          </p:cNvSpPr>
          <p:nvPr/>
        </p:nvSpPr>
        <p:spPr>
          <a:xfrm>
            <a:off x="8372475" y="233362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5A0C5F-169B-4604-A9D8-B82CD6636EDF}"/>
              </a:ext>
            </a:extLst>
          </p:cNvPr>
          <p:cNvSpPr>
            <a:spLocks noGrp="1"/>
          </p:cNvSpPr>
          <p:nvPr/>
        </p:nvSpPr>
        <p:spPr>
          <a:xfrm>
            <a:off x="8743950" y="233362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01CC76-4103-4048-A681-8DF6F641A930}"/>
              </a:ext>
            </a:extLst>
          </p:cNvPr>
          <p:cNvSpPr>
            <a:spLocks noGrp="1"/>
          </p:cNvSpPr>
          <p:nvPr/>
        </p:nvSpPr>
        <p:spPr>
          <a:xfrm>
            <a:off x="9115425" y="233362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7AE347-F004-41D2-BFD0-456D13491127}"/>
              </a:ext>
            </a:extLst>
          </p:cNvPr>
          <p:cNvSpPr>
            <a:spLocks noGrp="1"/>
          </p:cNvSpPr>
          <p:nvPr/>
        </p:nvSpPr>
        <p:spPr>
          <a:xfrm>
            <a:off x="9486900" y="233362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3F7DBA-A0C2-4A3D-BA7E-8BF4E33AAB0E}"/>
              </a:ext>
            </a:extLst>
          </p:cNvPr>
          <p:cNvSpPr>
            <a:spLocks noGrp="1"/>
          </p:cNvSpPr>
          <p:nvPr/>
        </p:nvSpPr>
        <p:spPr>
          <a:xfrm>
            <a:off x="9858375" y="233362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043DB4-6B23-4C05-847D-C1152CA27A7C}"/>
              </a:ext>
            </a:extLst>
          </p:cNvPr>
          <p:cNvSpPr>
            <a:spLocks noGrp="1"/>
          </p:cNvSpPr>
          <p:nvPr/>
        </p:nvSpPr>
        <p:spPr>
          <a:xfrm>
            <a:off x="10229850" y="233362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D422C12-C46B-4503-B121-26FBEB6A9C55}"/>
              </a:ext>
            </a:extLst>
          </p:cNvPr>
          <p:cNvSpPr>
            <a:spLocks noGrp="1"/>
          </p:cNvSpPr>
          <p:nvPr/>
        </p:nvSpPr>
        <p:spPr>
          <a:xfrm>
            <a:off x="10601325" y="233362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C6CACC-C3AD-4B9F-A18C-34D2C94E6BAE}"/>
              </a:ext>
            </a:extLst>
          </p:cNvPr>
          <p:cNvSpPr>
            <a:spLocks noGrp="1"/>
          </p:cNvSpPr>
          <p:nvPr/>
        </p:nvSpPr>
        <p:spPr>
          <a:xfrm>
            <a:off x="8001000" y="270510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C947E4-F163-45D2-B1D0-44578F4D0F44}"/>
              </a:ext>
            </a:extLst>
          </p:cNvPr>
          <p:cNvSpPr>
            <a:spLocks noGrp="1"/>
          </p:cNvSpPr>
          <p:nvPr/>
        </p:nvSpPr>
        <p:spPr>
          <a:xfrm>
            <a:off x="8372475" y="270510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E13923-6977-47AA-99D3-D6145332E1CE}"/>
              </a:ext>
            </a:extLst>
          </p:cNvPr>
          <p:cNvSpPr>
            <a:spLocks noGrp="1"/>
          </p:cNvSpPr>
          <p:nvPr/>
        </p:nvSpPr>
        <p:spPr>
          <a:xfrm>
            <a:off x="8743950" y="270510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7C0343-4746-49DF-BC8F-D18E46BDFD14}"/>
              </a:ext>
            </a:extLst>
          </p:cNvPr>
          <p:cNvSpPr>
            <a:spLocks noGrp="1"/>
          </p:cNvSpPr>
          <p:nvPr/>
        </p:nvSpPr>
        <p:spPr>
          <a:xfrm>
            <a:off x="9115425" y="270510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44F54D0-E9F0-46AA-8DB9-38A42962E30A}"/>
              </a:ext>
            </a:extLst>
          </p:cNvPr>
          <p:cNvSpPr>
            <a:spLocks noGrp="1"/>
          </p:cNvSpPr>
          <p:nvPr/>
        </p:nvSpPr>
        <p:spPr>
          <a:xfrm>
            <a:off x="9486900" y="270510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6264CF-7B0E-41C5-8736-FA6F8E916A3C}"/>
              </a:ext>
            </a:extLst>
          </p:cNvPr>
          <p:cNvSpPr>
            <a:spLocks noGrp="1"/>
          </p:cNvSpPr>
          <p:nvPr/>
        </p:nvSpPr>
        <p:spPr>
          <a:xfrm>
            <a:off x="9858375" y="270510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C50591F-17CD-4963-A169-9F34E0C6642A}"/>
              </a:ext>
            </a:extLst>
          </p:cNvPr>
          <p:cNvSpPr>
            <a:spLocks noGrp="1"/>
          </p:cNvSpPr>
          <p:nvPr/>
        </p:nvSpPr>
        <p:spPr>
          <a:xfrm>
            <a:off x="10229850" y="270510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F5BB9DC-8E40-4065-897C-838A1B784622}"/>
              </a:ext>
            </a:extLst>
          </p:cNvPr>
          <p:cNvSpPr>
            <a:spLocks noGrp="1"/>
          </p:cNvSpPr>
          <p:nvPr/>
        </p:nvSpPr>
        <p:spPr>
          <a:xfrm>
            <a:off x="10601325" y="270510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619064-1A3E-4FCA-ACC9-9C1140D2A4B6}"/>
              </a:ext>
            </a:extLst>
          </p:cNvPr>
          <p:cNvSpPr>
            <a:spLocks noGrp="1"/>
          </p:cNvSpPr>
          <p:nvPr/>
        </p:nvSpPr>
        <p:spPr>
          <a:xfrm>
            <a:off x="8001000" y="307657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C6634DB-CC72-42D0-AA2B-8BD3F307D37C}"/>
              </a:ext>
            </a:extLst>
          </p:cNvPr>
          <p:cNvSpPr>
            <a:spLocks noGrp="1"/>
          </p:cNvSpPr>
          <p:nvPr/>
        </p:nvSpPr>
        <p:spPr>
          <a:xfrm>
            <a:off x="8372475" y="307657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766B7FF-D2BE-42F5-A733-EB2FD195C8D8}"/>
              </a:ext>
            </a:extLst>
          </p:cNvPr>
          <p:cNvSpPr>
            <a:spLocks noGrp="1"/>
          </p:cNvSpPr>
          <p:nvPr/>
        </p:nvSpPr>
        <p:spPr>
          <a:xfrm>
            <a:off x="8743950" y="307657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1BB0CE9-ED90-449D-85F1-D23221E34060}"/>
              </a:ext>
            </a:extLst>
          </p:cNvPr>
          <p:cNvSpPr>
            <a:spLocks noGrp="1"/>
          </p:cNvSpPr>
          <p:nvPr/>
        </p:nvSpPr>
        <p:spPr>
          <a:xfrm>
            <a:off x="9115425" y="307657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6047698-1B73-4241-99FD-81B6B6E39821}"/>
              </a:ext>
            </a:extLst>
          </p:cNvPr>
          <p:cNvSpPr>
            <a:spLocks noGrp="1"/>
          </p:cNvSpPr>
          <p:nvPr/>
        </p:nvSpPr>
        <p:spPr>
          <a:xfrm>
            <a:off x="9486900" y="307657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D637A03-C8C1-4820-A0EF-4322BB225748}"/>
              </a:ext>
            </a:extLst>
          </p:cNvPr>
          <p:cNvSpPr>
            <a:spLocks noGrp="1"/>
          </p:cNvSpPr>
          <p:nvPr/>
        </p:nvSpPr>
        <p:spPr>
          <a:xfrm>
            <a:off x="9858375" y="307657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69AFE15-6A96-4399-9A5D-51F4781EE998}"/>
              </a:ext>
            </a:extLst>
          </p:cNvPr>
          <p:cNvSpPr>
            <a:spLocks noGrp="1"/>
          </p:cNvSpPr>
          <p:nvPr/>
        </p:nvSpPr>
        <p:spPr>
          <a:xfrm>
            <a:off x="10229850" y="307657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1722EF7-93DA-4B0B-B7D9-F207F586FE6F}"/>
              </a:ext>
            </a:extLst>
          </p:cNvPr>
          <p:cNvSpPr>
            <a:spLocks noGrp="1"/>
          </p:cNvSpPr>
          <p:nvPr/>
        </p:nvSpPr>
        <p:spPr>
          <a:xfrm>
            <a:off x="10601325" y="307657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D365433-0115-4F68-A116-DF606A2393DE}"/>
              </a:ext>
            </a:extLst>
          </p:cNvPr>
          <p:cNvSpPr>
            <a:spLocks noGrp="1"/>
          </p:cNvSpPr>
          <p:nvPr/>
        </p:nvSpPr>
        <p:spPr>
          <a:xfrm>
            <a:off x="8001000" y="344805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0766F00-072A-4EE2-8CF5-4D64F92A3610}"/>
              </a:ext>
            </a:extLst>
          </p:cNvPr>
          <p:cNvSpPr>
            <a:spLocks noGrp="1"/>
          </p:cNvSpPr>
          <p:nvPr/>
        </p:nvSpPr>
        <p:spPr>
          <a:xfrm>
            <a:off x="8372475" y="344805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0D365BB-7307-4269-A5C2-8FE8D1487B33}"/>
              </a:ext>
            </a:extLst>
          </p:cNvPr>
          <p:cNvSpPr>
            <a:spLocks noGrp="1"/>
          </p:cNvSpPr>
          <p:nvPr/>
        </p:nvSpPr>
        <p:spPr>
          <a:xfrm>
            <a:off x="8743950" y="344805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048D5D1-EDDD-43A5-B5D2-1BEAB58E7800}"/>
              </a:ext>
            </a:extLst>
          </p:cNvPr>
          <p:cNvSpPr>
            <a:spLocks noGrp="1"/>
          </p:cNvSpPr>
          <p:nvPr/>
        </p:nvSpPr>
        <p:spPr>
          <a:xfrm>
            <a:off x="9115425" y="344805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2F4B854-6E3D-4D75-84A5-6D4E5DCDEA46}"/>
              </a:ext>
            </a:extLst>
          </p:cNvPr>
          <p:cNvSpPr>
            <a:spLocks noGrp="1"/>
          </p:cNvSpPr>
          <p:nvPr/>
        </p:nvSpPr>
        <p:spPr>
          <a:xfrm>
            <a:off x="9486900" y="344805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50A998E-3988-4B4A-BD53-94B92A31B696}"/>
              </a:ext>
            </a:extLst>
          </p:cNvPr>
          <p:cNvSpPr>
            <a:spLocks noGrp="1"/>
          </p:cNvSpPr>
          <p:nvPr/>
        </p:nvSpPr>
        <p:spPr>
          <a:xfrm>
            <a:off x="9858375" y="344805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9B95872-BFE3-4AE9-B2E8-E62E3A73B34E}"/>
              </a:ext>
            </a:extLst>
          </p:cNvPr>
          <p:cNvSpPr>
            <a:spLocks noGrp="1"/>
          </p:cNvSpPr>
          <p:nvPr/>
        </p:nvSpPr>
        <p:spPr>
          <a:xfrm>
            <a:off x="10229850" y="344805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390CA88-7A00-435F-8DC2-2F3C2ADA294C}"/>
              </a:ext>
            </a:extLst>
          </p:cNvPr>
          <p:cNvSpPr>
            <a:spLocks noGrp="1"/>
          </p:cNvSpPr>
          <p:nvPr/>
        </p:nvSpPr>
        <p:spPr>
          <a:xfrm>
            <a:off x="10601325" y="344805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D5FA63B-9EA3-4777-A5C3-E701C13064E2}"/>
              </a:ext>
            </a:extLst>
          </p:cNvPr>
          <p:cNvSpPr>
            <a:spLocks noGrp="1"/>
          </p:cNvSpPr>
          <p:nvPr/>
        </p:nvSpPr>
        <p:spPr>
          <a:xfrm>
            <a:off x="8001000" y="381952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DF996FE-5485-407F-9298-5F47823BB387}"/>
              </a:ext>
            </a:extLst>
          </p:cNvPr>
          <p:cNvSpPr>
            <a:spLocks noGrp="1"/>
          </p:cNvSpPr>
          <p:nvPr/>
        </p:nvSpPr>
        <p:spPr>
          <a:xfrm>
            <a:off x="8372475" y="381952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D8C9317-55A2-44D3-B498-922D9CFFBAE3}"/>
              </a:ext>
            </a:extLst>
          </p:cNvPr>
          <p:cNvSpPr>
            <a:spLocks noGrp="1"/>
          </p:cNvSpPr>
          <p:nvPr/>
        </p:nvSpPr>
        <p:spPr>
          <a:xfrm>
            <a:off x="8743950" y="381952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60C0C48-7F7F-4D37-B543-57537FE7315F}"/>
              </a:ext>
            </a:extLst>
          </p:cNvPr>
          <p:cNvSpPr>
            <a:spLocks noGrp="1"/>
          </p:cNvSpPr>
          <p:nvPr/>
        </p:nvSpPr>
        <p:spPr>
          <a:xfrm>
            <a:off x="9115425" y="381952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A085658-2D26-490F-B324-6AD2D0F41DA4}"/>
              </a:ext>
            </a:extLst>
          </p:cNvPr>
          <p:cNvSpPr>
            <a:spLocks noGrp="1"/>
          </p:cNvSpPr>
          <p:nvPr/>
        </p:nvSpPr>
        <p:spPr>
          <a:xfrm>
            <a:off x="9486900" y="381952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783F8E1-F178-4949-B440-64E08D8D9DDF}"/>
              </a:ext>
            </a:extLst>
          </p:cNvPr>
          <p:cNvSpPr>
            <a:spLocks noGrp="1"/>
          </p:cNvSpPr>
          <p:nvPr/>
        </p:nvSpPr>
        <p:spPr>
          <a:xfrm>
            <a:off x="9858375" y="381952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8F9055-0331-4D7D-B906-E968816685B5}"/>
              </a:ext>
            </a:extLst>
          </p:cNvPr>
          <p:cNvSpPr>
            <a:spLocks noGrp="1"/>
          </p:cNvSpPr>
          <p:nvPr/>
        </p:nvSpPr>
        <p:spPr>
          <a:xfrm>
            <a:off x="10229850" y="381952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D92904B-6FA1-4D54-85A7-D4F4D09C4D97}"/>
              </a:ext>
            </a:extLst>
          </p:cNvPr>
          <p:cNvSpPr>
            <a:spLocks noGrp="1"/>
          </p:cNvSpPr>
          <p:nvPr/>
        </p:nvSpPr>
        <p:spPr>
          <a:xfrm>
            <a:off x="10601325" y="381952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3D4322A-4BE8-472C-8279-2B3A8FAF55BA}"/>
              </a:ext>
            </a:extLst>
          </p:cNvPr>
          <p:cNvSpPr>
            <a:spLocks noGrp="1"/>
          </p:cNvSpPr>
          <p:nvPr/>
        </p:nvSpPr>
        <p:spPr>
          <a:xfrm>
            <a:off x="8001000" y="419100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F406AA3-D6ED-4B79-B87E-C13FD65B743D}"/>
              </a:ext>
            </a:extLst>
          </p:cNvPr>
          <p:cNvSpPr>
            <a:spLocks noGrp="1"/>
          </p:cNvSpPr>
          <p:nvPr/>
        </p:nvSpPr>
        <p:spPr>
          <a:xfrm>
            <a:off x="8372475" y="419100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F3CACA2-EAAB-4DF7-AC54-04C54106FC94}"/>
              </a:ext>
            </a:extLst>
          </p:cNvPr>
          <p:cNvSpPr>
            <a:spLocks noGrp="1"/>
          </p:cNvSpPr>
          <p:nvPr/>
        </p:nvSpPr>
        <p:spPr>
          <a:xfrm>
            <a:off x="8743950" y="419100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34DE841-AE96-4A6B-B5E4-C8A76C3FC40F}"/>
              </a:ext>
            </a:extLst>
          </p:cNvPr>
          <p:cNvSpPr>
            <a:spLocks noGrp="1"/>
          </p:cNvSpPr>
          <p:nvPr/>
        </p:nvSpPr>
        <p:spPr>
          <a:xfrm>
            <a:off x="9115425" y="419100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CB18E76-CC15-46CF-866D-DA46F8A5437C}"/>
              </a:ext>
            </a:extLst>
          </p:cNvPr>
          <p:cNvSpPr>
            <a:spLocks noGrp="1"/>
          </p:cNvSpPr>
          <p:nvPr/>
        </p:nvSpPr>
        <p:spPr>
          <a:xfrm>
            <a:off x="9486900" y="419100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395FE2F-8DB9-4CCD-8717-66EC6C309FEB}"/>
              </a:ext>
            </a:extLst>
          </p:cNvPr>
          <p:cNvSpPr>
            <a:spLocks noGrp="1"/>
          </p:cNvSpPr>
          <p:nvPr/>
        </p:nvSpPr>
        <p:spPr>
          <a:xfrm>
            <a:off x="9858375" y="419100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B924423-0D32-4362-86B2-96485C5FAD3B}"/>
              </a:ext>
            </a:extLst>
          </p:cNvPr>
          <p:cNvSpPr>
            <a:spLocks noGrp="1"/>
          </p:cNvSpPr>
          <p:nvPr/>
        </p:nvSpPr>
        <p:spPr>
          <a:xfrm>
            <a:off x="10229850" y="4191000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481F820-F2E3-4618-8F3D-B52E11C4A07A}"/>
              </a:ext>
            </a:extLst>
          </p:cNvPr>
          <p:cNvSpPr>
            <a:spLocks noGrp="1"/>
          </p:cNvSpPr>
          <p:nvPr/>
        </p:nvSpPr>
        <p:spPr>
          <a:xfrm>
            <a:off x="10601325" y="4191000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1622D54-78F7-403F-8223-2559A224EF47}"/>
              </a:ext>
            </a:extLst>
          </p:cNvPr>
          <p:cNvSpPr>
            <a:spLocks noGrp="1"/>
          </p:cNvSpPr>
          <p:nvPr/>
        </p:nvSpPr>
        <p:spPr>
          <a:xfrm>
            <a:off x="8001000" y="456247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D3B399B-5069-4AE8-B264-11032864FEF0}"/>
              </a:ext>
            </a:extLst>
          </p:cNvPr>
          <p:cNvSpPr>
            <a:spLocks noGrp="1"/>
          </p:cNvSpPr>
          <p:nvPr/>
        </p:nvSpPr>
        <p:spPr>
          <a:xfrm>
            <a:off x="8372475" y="456247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3EFBB12-479E-4EE0-B2CE-BDA1E8FD5A34}"/>
              </a:ext>
            </a:extLst>
          </p:cNvPr>
          <p:cNvSpPr>
            <a:spLocks noGrp="1"/>
          </p:cNvSpPr>
          <p:nvPr/>
        </p:nvSpPr>
        <p:spPr>
          <a:xfrm>
            <a:off x="8743950" y="456247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16A9958-1BD9-4C1D-98E4-F5A224386B95}"/>
              </a:ext>
            </a:extLst>
          </p:cNvPr>
          <p:cNvSpPr>
            <a:spLocks noGrp="1"/>
          </p:cNvSpPr>
          <p:nvPr/>
        </p:nvSpPr>
        <p:spPr>
          <a:xfrm>
            <a:off x="9115425" y="456247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D7E3B51-327E-4B37-BB8D-00515F61DFB5}"/>
              </a:ext>
            </a:extLst>
          </p:cNvPr>
          <p:cNvSpPr>
            <a:spLocks noGrp="1"/>
          </p:cNvSpPr>
          <p:nvPr/>
        </p:nvSpPr>
        <p:spPr>
          <a:xfrm>
            <a:off x="9486900" y="456247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9259C8A-0F6C-4193-90DC-63A64D670970}"/>
              </a:ext>
            </a:extLst>
          </p:cNvPr>
          <p:cNvSpPr>
            <a:spLocks noGrp="1"/>
          </p:cNvSpPr>
          <p:nvPr/>
        </p:nvSpPr>
        <p:spPr>
          <a:xfrm>
            <a:off x="9858375" y="456247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52B5537-069F-4ADE-AFFE-976F334FAAD4}"/>
              </a:ext>
            </a:extLst>
          </p:cNvPr>
          <p:cNvSpPr>
            <a:spLocks noGrp="1"/>
          </p:cNvSpPr>
          <p:nvPr/>
        </p:nvSpPr>
        <p:spPr>
          <a:xfrm>
            <a:off x="10229850" y="4562475"/>
            <a:ext cx="371475" cy="371475"/>
          </a:xfrm>
          <a:prstGeom prst="rect">
            <a:avLst/>
          </a:prstGeom>
          <a:solidFill>
            <a:srgbClr val="5F73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676EA4F-6A9E-4123-9FF1-EF1FE9EE5FD3}"/>
              </a:ext>
            </a:extLst>
          </p:cNvPr>
          <p:cNvSpPr>
            <a:spLocks noGrp="1"/>
          </p:cNvSpPr>
          <p:nvPr/>
        </p:nvSpPr>
        <p:spPr>
          <a:xfrm>
            <a:off x="10601325" y="4562475"/>
            <a:ext cx="371475" cy="371475"/>
          </a:xfrm>
          <a:prstGeom prst="rect">
            <a:avLst/>
          </a:prstGeom>
          <a:solidFill>
            <a:srgbClr val="D7C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F652306-FF95-4C0B-8471-31BCC30F7888}"/>
              </a:ext>
            </a:extLst>
          </p:cNvPr>
          <p:cNvSpPr>
            <a:spLocks noGrp="1"/>
          </p:cNvSpPr>
          <p:nvPr/>
        </p:nvSpPr>
        <p:spPr>
          <a:xfrm>
            <a:off x="9486900" y="2009775"/>
            <a:ext cx="371475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0B0B0B"/>
                </a:solidFill>
                <a:latin typeface="Arial"/>
                <a:ea typeface="Arial"/>
                <a:cs typeface="Arial"/>
              </a:rPr>
              <a:t>♚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BF8C573-9400-4C1C-89BD-7E875441A507}"/>
              </a:ext>
            </a:extLst>
          </p:cNvPr>
          <p:cNvSpPr>
            <a:spLocks noGrp="1"/>
          </p:cNvSpPr>
          <p:nvPr/>
        </p:nvSpPr>
        <p:spPr>
          <a:xfrm>
            <a:off x="8743950" y="3079296"/>
            <a:ext cx="371475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0B0B0B"/>
                </a:solidFill>
                <a:latin typeface="Arial"/>
                <a:ea typeface="Arial"/>
                <a:cs typeface="Arial"/>
              </a:rPr>
              <a:t>♕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C109200-EBA2-4590-8E6A-CCF0DBE1A823}"/>
              </a:ext>
            </a:extLst>
          </p:cNvPr>
          <p:cNvSpPr>
            <a:spLocks noGrp="1"/>
          </p:cNvSpPr>
          <p:nvPr/>
        </p:nvSpPr>
        <p:spPr>
          <a:xfrm>
            <a:off x="9486900" y="4224337"/>
            <a:ext cx="371475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0B0B"/>
                </a:solidFill>
                <a:latin typeface="Arial"/>
                <a:ea typeface="Arial"/>
                <a:cs typeface="Arial"/>
              </a:rPr>
              <a:t>♔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141B856-6A54-4E1B-B9DF-FAA55BC9DD81}"/>
              </a:ext>
            </a:extLst>
          </p:cNvPr>
          <p:cNvSpPr>
            <a:spLocks noGrp="1"/>
          </p:cNvSpPr>
          <p:nvPr/>
        </p:nvSpPr>
        <p:spPr>
          <a:xfrm>
            <a:off x="8020050" y="51435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B5A9"/>
                </a:solidFill>
                <a:latin typeface="Arial"/>
                <a:ea typeface="Arial"/>
                <a:cs typeface="Arial"/>
              </a:rPr>
              <a:t>server-authoritative chess platform</a:t>
            </a:r>
          </a:p>
        </p:txBody>
      </p:sp>
    </p:spTree>
    <p:extLst>
      <p:ext uri="{BB962C8B-B14F-4D97-AF65-F5344CB8AC3E}">
        <p14:creationId xmlns:p14="http://schemas.microsoft.com/office/powerpoint/2010/main" val="741120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66E8B72-8516-4828-B873-46B22096DD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8C2B7D-65B9-4539-BB28-9472BC09E4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0707"/>
              </a:gs>
              <a:gs pos="48000">
                <a:srgbClr val="080808"/>
              </a:gs>
              <a:gs pos="100000">
                <a:srgbClr val="17122A"/>
              </a:gs>
            </a:gsLst>
            <a:lin ang="75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965C27-A020-4332-9BE0-4F4F89DDFE6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381000" cy="381000"/>
          </a:xfrm>
          <a:prstGeom prst="rect">
            <a:avLst/>
          </a:prstGeom>
          <a:gradFill>
            <a:gsLst>
              <a:gs pos="0">
                <a:srgbClr val="13D0BB"/>
              </a:gs>
              <a:gs pos="100000">
                <a:srgbClr val="865DFF"/>
              </a:gs>
            </a:gsLst>
            <a:lin ang="8100000"/>
          </a:gradFill>
          <a:ln w="9525">
            <a:solidFill>
              <a:srgbClr val="2B2B2B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55C5ED-D837-4FEE-87E1-CBCAB93F0E32}"/>
              </a:ext>
            </a:extLst>
          </p:cNvPr>
          <p:cNvSpPr>
            <a:spLocks noGrp="1"/>
          </p:cNvSpPr>
          <p:nvPr/>
        </p:nvSpPr>
        <p:spPr>
          <a:xfrm>
            <a:off x="723900" y="581025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CV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D63761-4D50-459B-9F00-54B1D7D0E2C7}"/>
              </a:ext>
            </a:extLst>
          </p:cNvPr>
          <p:cNvSpPr>
            <a:spLocks noGrp="1"/>
          </p:cNvSpPr>
          <p:nvPr/>
        </p:nvSpPr>
        <p:spPr>
          <a:xfrm>
            <a:off x="1104900" y="5524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ChessView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9DA505-FE2D-417C-BF65-F4EAC4509B67}"/>
              </a:ext>
            </a:extLst>
          </p:cNvPr>
          <p:cNvSpPr>
            <a:spLocks noGrp="1"/>
          </p:cNvSpPr>
          <p:nvPr/>
        </p:nvSpPr>
        <p:spPr>
          <a:xfrm>
            <a:off x="9525000" y="5524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B5A9"/>
                </a:solidFill>
                <a:latin typeface="Arial"/>
                <a:ea typeface="Arial"/>
                <a:cs typeface="Arial"/>
              </a:rPr>
              <a:t>Актуальность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123B7A-BAF4-4057-BF69-77145FDF3F1F}"/>
              </a:ext>
            </a:extLst>
          </p:cNvPr>
          <p:cNvSpPr>
            <a:spLocks noGrp="1"/>
          </p:cNvSpPr>
          <p:nvPr/>
        </p:nvSpPr>
        <p:spPr>
          <a:xfrm>
            <a:off x="11144250" y="5524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865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65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09BC96-1B5E-4352-8E57-706FA8670E90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9525"/>
          </a:xfrm>
          <a:prstGeom prst="rect">
            <a:avLst/>
          </a:prstGeom>
          <a:solidFill>
            <a:srgbClr val="2A2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F6A13D-CF28-4352-A4EE-473DA2110D13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685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Почему тема актуальна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F6B524-B85D-4D0A-B2DB-4B424A57F0F0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BDB5A9"/>
                </a:solidFill>
                <a:latin typeface="Arial"/>
                <a:ea typeface="Arial"/>
                <a:cs typeface="Arial"/>
              </a:rPr>
              <a:t>Современная</a:t>
            </a:r>
            <a:r>
              <a:rPr sz="1650" b="0" dirty="0">
                <a:solidFill>
                  <a:srgbClr val="BDB5A9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BDB5A9"/>
                </a:solidFill>
                <a:latin typeface="Arial"/>
                <a:ea typeface="Arial"/>
                <a:cs typeface="Arial"/>
              </a:rPr>
              <a:t>шахматная</a:t>
            </a:r>
            <a:r>
              <a:rPr sz="1650" b="0" dirty="0">
                <a:solidFill>
                  <a:srgbClr val="BDB5A9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BDB5A9"/>
                </a:solidFill>
                <a:latin typeface="Arial"/>
                <a:ea typeface="Arial"/>
                <a:cs typeface="Arial"/>
              </a:rPr>
              <a:t>платформа</a:t>
            </a:r>
            <a:r>
              <a:rPr sz="1650" b="0" dirty="0">
                <a:solidFill>
                  <a:srgbClr val="BDB5A9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BDB5A9"/>
                </a:solidFill>
                <a:latin typeface="Arial"/>
                <a:ea typeface="Arial"/>
                <a:cs typeface="Arial"/>
              </a:rPr>
              <a:t>требует</a:t>
            </a:r>
            <a:r>
              <a:rPr sz="1650" b="0" dirty="0">
                <a:solidFill>
                  <a:srgbClr val="BDB5A9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BDB5A9"/>
                </a:solidFill>
                <a:latin typeface="Arial"/>
                <a:ea typeface="Arial"/>
                <a:cs typeface="Arial"/>
              </a:rPr>
              <a:t>не</a:t>
            </a:r>
            <a:r>
              <a:rPr sz="1650" b="0" dirty="0">
                <a:solidFill>
                  <a:srgbClr val="BDB5A9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BDB5A9"/>
                </a:solidFill>
                <a:latin typeface="Arial"/>
                <a:ea typeface="Arial"/>
                <a:cs typeface="Arial"/>
              </a:rPr>
              <a:t>одной</a:t>
            </a:r>
            <a:r>
              <a:rPr sz="1650" b="0" dirty="0">
                <a:solidFill>
                  <a:srgbClr val="BDB5A9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BDB5A9"/>
                </a:solidFill>
                <a:latin typeface="Arial"/>
                <a:ea typeface="Arial"/>
                <a:cs typeface="Arial"/>
              </a:rPr>
              <a:t>доски</a:t>
            </a:r>
            <a:r>
              <a:rPr sz="1650" b="0" dirty="0">
                <a:solidFill>
                  <a:srgbClr val="BDB5A9"/>
                </a:solidFill>
                <a:latin typeface="Arial"/>
                <a:ea typeface="Arial"/>
                <a:cs typeface="Arial"/>
              </a:rPr>
              <a:t>, а </a:t>
            </a:r>
            <a:r>
              <a:rPr sz="1650" b="0" dirty="0" err="1">
                <a:solidFill>
                  <a:srgbClr val="BDB5A9"/>
                </a:solidFill>
                <a:latin typeface="Arial"/>
                <a:ea typeface="Arial"/>
                <a:cs typeface="Arial"/>
              </a:rPr>
              <a:t>согласованной</a:t>
            </a:r>
            <a:r>
              <a:rPr sz="1650" b="0" dirty="0">
                <a:solidFill>
                  <a:srgbClr val="BDB5A9"/>
                </a:solidFill>
                <a:latin typeface="Arial"/>
                <a:ea typeface="Arial"/>
                <a:cs typeface="Arial"/>
              </a:rPr>
              <a:t> </a:t>
            </a:r>
            <a:r>
              <a:rPr lang="ru-KZ" sz="1650" b="0" dirty="0">
                <a:solidFill>
                  <a:srgbClr val="BDB5A9"/>
                </a:solidFill>
                <a:latin typeface="Arial"/>
                <a:ea typeface="Arial"/>
                <a:cs typeface="Arial"/>
              </a:rPr>
              <a:t>античит </a:t>
            </a:r>
            <a:r>
              <a:rPr sz="1650" b="0" dirty="0" err="1">
                <a:solidFill>
                  <a:srgbClr val="BDB5A9"/>
                </a:solidFill>
                <a:latin typeface="Arial"/>
                <a:ea typeface="Arial"/>
                <a:cs typeface="Arial"/>
              </a:rPr>
              <a:t>системы</a:t>
            </a:r>
            <a:r>
              <a:rPr sz="1650" b="0" dirty="0">
                <a:solidFill>
                  <a:srgbClr val="BDB5A9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BA5608-5CE5-4DE5-A6A8-EFD3F0B977A9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3190875" cy="1809750"/>
          </a:xfrm>
          <a:prstGeom prst="rect">
            <a:avLst/>
          </a:prstGeom>
          <a:solidFill>
            <a:srgbClr val="11110F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BF6491-BC7C-4677-9381-92288F685F8C}"/>
              </a:ext>
            </a:extLst>
          </p:cNvPr>
          <p:cNvSpPr>
            <a:spLocks noGrp="1"/>
          </p:cNvSpPr>
          <p:nvPr/>
        </p:nvSpPr>
        <p:spPr>
          <a:xfrm>
            <a:off x="857250" y="3457575"/>
            <a:ext cx="47625" cy="146685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7C8F27-4AF4-4B66-8DCB-C03277C21A07}"/>
              </a:ext>
            </a:extLst>
          </p:cNvPr>
          <p:cNvSpPr>
            <a:spLocks noGrp="1"/>
          </p:cNvSpPr>
          <p:nvPr/>
        </p:nvSpPr>
        <p:spPr>
          <a:xfrm>
            <a:off x="1028700" y="3476625"/>
            <a:ext cx="26765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Real-time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FEC391-9A2A-4000-9658-7DAC0598CFFF}"/>
              </a:ext>
            </a:extLst>
          </p:cNvPr>
          <p:cNvSpPr>
            <a:spLocks noGrp="1"/>
          </p:cNvSpPr>
          <p:nvPr/>
        </p:nvSpPr>
        <p:spPr>
          <a:xfrm>
            <a:off x="1028700" y="3857625"/>
            <a:ext cx="2676525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WebSocket-канал синхронизирует состояние двух игроков, доставляет ходы, чат и события партии без перезагрузки страницы.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5A1498-65DC-4CC5-92AE-9B794BE3F3E9}"/>
              </a:ext>
            </a:extLst>
          </p:cNvPr>
          <p:cNvSpPr>
            <a:spLocks noGrp="1"/>
          </p:cNvSpPr>
          <p:nvPr/>
        </p:nvSpPr>
        <p:spPr>
          <a:xfrm>
            <a:off x="4143375" y="3286125"/>
            <a:ext cx="3190875" cy="1809750"/>
          </a:xfrm>
          <a:prstGeom prst="rect">
            <a:avLst/>
          </a:prstGeom>
          <a:solidFill>
            <a:srgbClr val="11110F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F63387-10E5-49F5-B0D9-9205723A9BE9}"/>
              </a:ext>
            </a:extLst>
          </p:cNvPr>
          <p:cNvSpPr>
            <a:spLocks noGrp="1"/>
          </p:cNvSpPr>
          <p:nvPr/>
        </p:nvSpPr>
        <p:spPr>
          <a:xfrm>
            <a:off x="4314825" y="3457575"/>
            <a:ext cx="47625" cy="1466850"/>
          </a:xfrm>
          <a:prstGeom prst="rect">
            <a:avLst/>
          </a:prstGeom>
          <a:solidFill>
            <a:srgbClr val="13D0B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CECFAA-3BC9-42DE-89F5-B5B34A98B509}"/>
              </a:ext>
            </a:extLst>
          </p:cNvPr>
          <p:cNvSpPr>
            <a:spLocks noGrp="1"/>
          </p:cNvSpPr>
          <p:nvPr/>
        </p:nvSpPr>
        <p:spPr>
          <a:xfrm>
            <a:off x="4486275" y="3476625"/>
            <a:ext cx="26765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Сервер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6F2B26-0587-4348-9BA0-13B05936D516}"/>
              </a:ext>
            </a:extLst>
          </p:cNvPr>
          <p:cNvSpPr>
            <a:spLocks noGrp="1"/>
          </p:cNvSpPr>
          <p:nvPr/>
        </p:nvSpPr>
        <p:spPr>
          <a:xfrm>
            <a:off x="4486275" y="3857625"/>
            <a:ext cx="2676525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Backend проверяет правила шахмат, очередь хода, часы, результат партии и изменение рейтинга.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4DB3D7-F9FC-4A13-8583-99153E77AD4B}"/>
              </a:ext>
            </a:extLst>
          </p:cNvPr>
          <p:cNvSpPr>
            <a:spLocks noGrp="1"/>
          </p:cNvSpPr>
          <p:nvPr/>
        </p:nvSpPr>
        <p:spPr>
          <a:xfrm>
            <a:off x="7600950" y="3286125"/>
            <a:ext cx="3190875" cy="1809750"/>
          </a:xfrm>
          <a:prstGeom prst="rect">
            <a:avLst/>
          </a:prstGeom>
          <a:solidFill>
            <a:srgbClr val="11110F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97021A-B1F0-4CB4-A832-93CED901D657}"/>
              </a:ext>
            </a:extLst>
          </p:cNvPr>
          <p:cNvSpPr>
            <a:spLocks noGrp="1"/>
          </p:cNvSpPr>
          <p:nvPr/>
        </p:nvSpPr>
        <p:spPr>
          <a:xfrm>
            <a:off x="7772400" y="3457575"/>
            <a:ext cx="47625" cy="1466850"/>
          </a:xfrm>
          <a:prstGeom prst="rect">
            <a:avLst/>
          </a:prstGeom>
          <a:solidFill>
            <a:srgbClr val="7DDC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F1E4FC-B3C3-4514-8B52-EC231D6EEB1F}"/>
              </a:ext>
            </a:extLst>
          </p:cNvPr>
          <p:cNvSpPr>
            <a:spLocks noGrp="1"/>
          </p:cNvSpPr>
          <p:nvPr/>
        </p:nvSpPr>
        <p:spPr>
          <a:xfrm>
            <a:off x="7943850" y="3476625"/>
            <a:ext cx="26765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Платформа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ABEAB0-F11B-4EBC-8EF3-66523667D8AF}"/>
              </a:ext>
            </a:extLst>
          </p:cNvPr>
          <p:cNvSpPr>
            <a:spLocks noGrp="1"/>
          </p:cNvSpPr>
          <p:nvPr/>
        </p:nvSpPr>
        <p:spPr>
          <a:xfrm>
            <a:off x="7943850" y="3857625"/>
            <a:ext cx="2676525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Проект объединяет аккаунты, профили, историю партий, анализ, задачи, турниры, платежи и админ-панель.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118C5D-1A7D-4D6D-9D5B-B3BCBC5A5808}"/>
              </a:ext>
            </a:extLst>
          </p:cNvPr>
          <p:cNvSpPr>
            <a:spLocks noGrp="1"/>
          </p:cNvSpPr>
          <p:nvPr/>
        </p:nvSpPr>
        <p:spPr>
          <a:xfrm>
            <a:off x="704850" y="5715000"/>
            <a:ext cx="981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65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Актуальность</a:t>
            </a:r>
            <a:r>
              <a:rPr sz="165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ChessView</a:t>
            </a:r>
            <a:r>
              <a:rPr sz="165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в </a:t>
            </a:r>
            <a:r>
              <a:rPr sz="165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том</a:t>
            </a:r>
            <a:r>
              <a:rPr sz="165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, </a:t>
            </a:r>
            <a:r>
              <a:rPr sz="165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что</a:t>
            </a:r>
            <a:r>
              <a:rPr sz="165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проект</a:t>
            </a:r>
            <a:r>
              <a:rPr sz="165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сочетает</a:t>
            </a:r>
            <a:r>
              <a:rPr sz="165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в </a:t>
            </a:r>
            <a:r>
              <a:rPr sz="165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себе</a:t>
            </a:r>
            <a:r>
              <a:rPr sz="165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тысячилетнюю</a:t>
            </a:r>
            <a:r>
              <a:rPr sz="165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историю</a:t>
            </a:r>
            <a:r>
              <a:rPr sz="165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игры</a:t>
            </a:r>
            <a:r>
              <a:rPr sz="165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с </a:t>
            </a:r>
            <a:r>
              <a:rPr sz="165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современной</a:t>
            </a:r>
            <a:r>
              <a:rPr sz="165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архитектурой</a:t>
            </a:r>
            <a:r>
              <a:rPr sz="165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и </a:t>
            </a:r>
            <a:r>
              <a:rPr sz="165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борьбой</a:t>
            </a:r>
            <a:r>
              <a:rPr sz="165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с </a:t>
            </a:r>
            <a:r>
              <a:rPr sz="165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читингом</a:t>
            </a:r>
            <a:r>
              <a:rPr sz="165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0458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B2E482A-731A-4604-B32E-172EA0DD3D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9F78E5-E744-4219-873C-EAB2A9E7A4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0707"/>
              </a:gs>
              <a:gs pos="48000">
                <a:srgbClr val="080808"/>
              </a:gs>
              <a:gs pos="100000">
                <a:srgbClr val="17122A"/>
              </a:gs>
            </a:gsLst>
            <a:lin ang="75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52A168-84B8-4D77-A223-B9403E604F2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381000" cy="381000"/>
          </a:xfrm>
          <a:prstGeom prst="rect">
            <a:avLst/>
          </a:prstGeom>
          <a:gradFill>
            <a:gsLst>
              <a:gs pos="0">
                <a:srgbClr val="13D0BB"/>
              </a:gs>
              <a:gs pos="100000">
                <a:srgbClr val="865DFF"/>
              </a:gs>
            </a:gsLst>
            <a:lin ang="8100000"/>
          </a:gradFill>
          <a:ln w="9525">
            <a:solidFill>
              <a:srgbClr val="2B2B2B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CE814-EE72-4B66-B08D-95483A8FFD65}"/>
              </a:ext>
            </a:extLst>
          </p:cNvPr>
          <p:cNvSpPr>
            <a:spLocks noGrp="1"/>
          </p:cNvSpPr>
          <p:nvPr/>
        </p:nvSpPr>
        <p:spPr>
          <a:xfrm>
            <a:off x="723900" y="581025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CV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1CBA5-EFE1-4289-973E-68646536AB9F}"/>
              </a:ext>
            </a:extLst>
          </p:cNvPr>
          <p:cNvSpPr>
            <a:spLocks noGrp="1"/>
          </p:cNvSpPr>
          <p:nvPr/>
        </p:nvSpPr>
        <p:spPr>
          <a:xfrm>
            <a:off x="1104900" y="5524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ChessView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BA3E9-24DF-4B63-B1BA-98303D68D6B3}"/>
              </a:ext>
            </a:extLst>
          </p:cNvPr>
          <p:cNvSpPr>
            <a:spLocks noGrp="1"/>
          </p:cNvSpPr>
          <p:nvPr/>
        </p:nvSpPr>
        <p:spPr>
          <a:xfrm>
            <a:off x="9525000" y="5524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B5A9"/>
                </a:solidFill>
                <a:latin typeface="Arial"/>
                <a:ea typeface="Arial"/>
                <a:cs typeface="Arial"/>
              </a:rPr>
              <a:t>Цель и задачи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F1E403-F603-404C-956F-0E1FC94F6ED1}"/>
              </a:ext>
            </a:extLst>
          </p:cNvPr>
          <p:cNvSpPr>
            <a:spLocks noGrp="1"/>
          </p:cNvSpPr>
          <p:nvPr/>
        </p:nvSpPr>
        <p:spPr>
          <a:xfrm>
            <a:off x="11144250" y="5524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865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65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B3EA32-7695-446A-BEF3-AC72540A76DF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9525"/>
          </a:xfrm>
          <a:prstGeom prst="rect">
            <a:avLst/>
          </a:prstGeom>
          <a:solidFill>
            <a:srgbClr val="2A2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21A8FA-422C-4F20-B17C-45DA6B51578E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476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Цель проекта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1F8BB9-E010-4AA2-B949-A55DC75D805E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953000" cy="1524000"/>
          </a:xfrm>
          <a:prstGeom prst="rect">
            <a:avLst/>
          </a:prstGeom>
          <a:solidFill>
            <a:srgbClr val="11110F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2D2FD7-8973-46E2-A8B6-FFD9A7BA5CC6}"/>
              </a:ext>
            </a:extLst>
          </p:cNvPr>
          <p:cNvSpPr>
            <a:spLocks noGrp="1"/>
          </p:cNvSpPr>
          <p:nvPr/>
        </p:nvSpPr>
        <p:spPr>
          <a:xfrm>
            <a:off x="809625" y="2152650"/>
            <a:ext cx="4381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60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Разработать</a:t>
            </a:r>
            <a:r>
              <a:rPr sz="160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веб-приложение</a:t>
            </a:r>
            <a:r>
              <a:rPr sz="160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ChessView</a:t>
            </a:r>
            <a:r>
              <a:rPr sz="160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для</a:t>
            </a:r>
            <a:r>
              <a:rPr sz="160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организации</a:t>
            </a:r>
            <a:r>
              <a:rPr sz="160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шахматных</a:t>
            </a:r>
            <a:r>
              <a:rPr sz="160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онлайн-партий</a:t>
            </a:r>
            <a:r>
              <a:rPr sz="160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анализа</a:t>
            </a:r>
            <a:r>
              <a:rPr sz="160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позиций</a:t>
            </a:r>
            <a:r>
              <a:rPr sz="160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ведения</a:t>
            </a:r>
            <a:r>
              <a:rPr sz="160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профилей</a:t>
            </a:r>
            <a:r>
              <a:rPr sz="160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турниров</a:t>
            </a:r>
            <a:r>
              <a:rPr sz="160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и </a:t>
            </a:r>
            <a:r>
              <a:rPr sz="160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административного</a:t>
            </a:r>
            <a:r>
              <a:rPr sz="160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контроля</a:t>
            </a:r>
            <a:r>
              <a:rPr sz="1600" b="1" dirty="0">
                <a:solidFill>
                  <a:srgbClr val="F5F1E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0953F0-1ED8-4892-9F5D-D752F115F459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71500" cy="5715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284A90-AC7D-46C7-8D4A-5CB81C5A6DA7}"/>
              </a:ext>
            </a:extLst>
          </p:cNvPr>
          <p:cNvSpPr>
            <a:spLocks noGrp="1"/>
          </p:cNvSpPr>
          <p:nvPr/>
        </p:nvSpPr>
        <p:spPr>
          <a:xfrm>
            <a:off x="6286500" y="1743075"/>
            <a:ext cx="57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7958D1-0260-49C0-A1A9-DB9BF4DF862F}"/>
              </a:ext>
            </a:extLst>
          </p:cNvPr>
          <p:cNvSpPr>
            <a:spLocks noGrp="1"/>
          </p:cNvSpPr>
          <p:nvPr/>
        </p:nvSpPr>
        <p:spPr>
          <a:xfrm>
            <a:off x="7048500" y="16002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Спроектировать архитектуру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91BB93-C6FE-4E37-BF8E-448DC664FFF5}"/>
              </a:ext>
            </a:extLst>
          </p:cNvPr>
          <p:cNvSpPr>
            <a:spLocks noGrp="1"/>
          </p:cNvSpPr>
          <p:nvPr/>
        </p:nvSpPr>
        <p:spPr>
          <a:xfrm>
            <a:off x="7048500" y="194310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Разделить frontend, backend API, WebSocket, БД и admin-frontend.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EDC6E6-EB0C-41DC-90B9-233AAF1C988D}"/>
              </a:ext>
            </a:extLst>
          </p:cNvPr>
          <p:cNvSpPr>
            <a:spLocks noGrp="1"/>
          </p:cNvSpPr>
          <p:nvPr/>
        </p:nvSpPr>
        <p:spPr>
          <a:xfrm>
            <a:off x="6286500" y="2686050"/>
            <a:ext cx="571500" cy="5715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C82E77-9261-41F9-8F3E-036CD4E1CC16}"/>
              </a:ext>
            </a:extLst>
          </p:cNvPr>
          <p:cNvSpPr>
            <a:spLocks noGrp="1"/>
          </p:cNvSpPr>
          <p:nvPr/>
        </p:nvSpPr>
        <p:spPr>
          <a:xfrm>
            <a:off x="6286500" y="2809875"/>
            <a:ext cx="57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AAC0E3-EB5E-4041-AE38-DBB4D133B12B}"/>
              </a:ext>
            </a:extLst>
          </p:cNvPr>
          <p:cNvSpPr>
            <a:spLocks noGrp="1"/>
          </p:cNvSpPr>
          <p:nvPr/>
        </p:nvSpPr>
        <p:spPr>
          <a:xfrm>
            <a:off x="7048500" y="26670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Реализовать игровой процесс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FEB59F-A34C-4A0C-A8A0-25BCAB97D4C8}"/>
              </a:ext>
            </a:extLst>
          </p:cNvPr>
          <p:cNvSpPr>
            <a:spLocks noGrp="1"/>
          </p:cNvSpPr>
          <p:nvPr/>
        </p:nvSpPr>
        <p:spPr>
          <a:xfrm>
            <a:off x="7048500" y="300990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Сделать live-партию с серверной проверкой ходов и сохранением истории.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B554B8-6F2A-444C-A0B7-50DC4CA43265}"/>
              </a:ext>
            </a:extLst>
          </p:cNvPr>
          <p:cNvSpPr>
            <a:spLocks noGrp="1"/>
          </p:cNvSpPr>
          <p:nvPr/>
        </p:nvSpPr>
        <p:spPr>
          <a:xfrm>
            <a:off x="6286500" y="3752850"/>
            <a:ext cx="571500" cy="5715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A539C5-C1B9-454C-BED5-36A37913F504}"/>
              </a:ext>
            </a:extLst>
          </p:cNvPr>
          <p:cNvSpPr>
            <a:spLocks noGrp="1"/>
          </p:cNvSpPr>
          <p:nvPr/>
        </p:nvSpPr>
        <p:spPr>
          <a:xfrm>
            <a:off x="6286500" y="3876675"/>
            <a:ext cx="57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4B8213-B6BB-47B2-94C2-C96DDCB4B528}"/>
              </a:ext>
            </a:extLst>
          </p:cNvPr>
          <p:cNvSpPr>
            <a:spLocks noGrp="1"/>
          </p:cNvSpPr>
          <p:nvPr/>
        </p:nvSpPr>
        <p:spPr>
          <a:xfrm>
            <a:off x="7048500" y="37338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Описать данные и API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68FD8E-C800-4E4D-ABB8-7279501FA184}"/>
              </a:ext>
            </a:extLst>
          </p:cNvPr>
          <p:cNvSpPr>
            <a:spLocks noGrp="1"/>
          </p:cNvSpPr>
          <p:nvPr/>
        </p:nvSpPr>
        <p:spPr>
          <a:xfrm>
            <a:off x="7048500" y="407670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Сформировать ERD, таблицы БД, REST endpoints и WebSocket-события.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1647A8-8F0E-4545-A2BC-4C20CB6C63B2}"/>
              </a:ext>
            </a:extLst>
          </p:cNvPr>
          <p:cNvSpPr>
            <a:spLocks noGrp="1"/>
          </p:cNvSpPr>
          <p:nvPr/>
        </p:nvSpPr>
        <p:spPr>
          <a:xfrm>
            <a:off x="6286500" y="4819650"/>
            <a:ext cx="571500" cy="5715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BDAA45-B963-42DC-B600-718DB3450210}"/>
              </a:ext>
            </a:extLst>
          </p:cNvPr>
          <p:cNvSpPr>
            <a:spLocks noGrp="1"/>
          </p:cNvSpPr>
          <p:nvPr/>
        </p:nvSpPr>
        <p:spPr>
          <a:xfrm>
            <a:off x="6286500" y="4943475"/>
            <a:ext cx="57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1D5D41-588B-4470-A614-0AFAC503AFCB}"/>
              </a:ext>
            </a:extLst>
          </p:cNvPr>
          <p:cNvSpPr>
            <a:spLocks noGrp="1"/>
          </p:cNvSpPr>
          <p:nvPr/>
        </p:nvSpPr>
        <p:spPr>
          <a:xfrm>
            <a:off x="7048500" y="48006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Собрать клиентские сценарии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48A2DA-F4C7-40C4-BA2A-0BCAF2CB894F}"/>
              </a:ext>
            </a:extLst>
          </p:cNvPr>
          <p:cNvSpPr>
            <a:spLocks noGrp="1"/>
          </p:cNvSpPr>
          <p:nvPr/>
        </p:nvSpPr>
        <p:spPr>
          <a:xfrm>
            <a:off x="7048500" y="514350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Профиль, история, анализ, задачи, турниры, платежи и настройки.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A8AEE3-65C7-4969-81D3-8925B61DB8D7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4953000" cy="1238250"/>
          </a:xfrm>
          <a:prstGeom prst="rect">
            <a:avLst/>
          </a:prstGeom>
          <a:solidFill>
            <a:srgbClr val="171511"/>
          </a:solidFill>
          <a:ln w="9525">
            <a:solidFill>
              <a:srgbClr val="34302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616BB2-1D46-454E-8091-DD897DFE9037}"/>
              </a:ext>
            </a:extLst>
          </p:cNvPr>
          <p:cNvSpPr>
            <a:spLocks noGrp="1"/>
          </p:cNvSpPr>
          <p:nvPr/>
        </p:nvSpPr>
        <p:spPr>
          <a:xfrm>
            <a:off x="809625" y="4298496"/>
            <a:ext cx="4191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C46B"/>
                </a:solidFill>
                <a:latin typeface="Arial"/>
                <a:ea typeface="Arial"/>
                <a:cs typeface="Arial"/>
              </a:defRPr>
            </a:pPr>
            <a:r>
              <a:rPr sz="1650" b="1" dirty="0" err="1">
                <a:solidFill>
                  <a:srgbClr val="F8C46B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1650" b="1" dirty="0">
                <a:solidFill>
                  <a:srgbClr val="F8C46B"/>
                </a:solidFill>
                <a:latin typeface="Arial"/>
                <a:ea typeface="Arial"/>
                <a:cs typeface="Arial"/>
              </a:rPr>
              <a:t>: </a:t>
            </a:r>
            <a:r>
              <a:rPr sz="1650" b="1" dirty="0" err="1">
                <a:solidFill>
                  <a:srgbClr val="F8C46B"/>
                </a:solidFill>
                <a:latin typeface="Arial"/>
                <a:ea typeface="Arial"/>
                <a:cs typeface="Arial"/>
              </a:rPr>
              <a:t>готовый</a:t>
            </a:r>
            <a:r>
              <a:rPr sz="1650" b="1" dirty="0">
                <a:solidFill>
                  <a:srgbClr val="F8C46B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F8C46B"/>
                </a:solidFill>
                <a:latin typeface="Arial"/>
                <a:ea typeface="Arial"/>
                <a:cs typeface="Arial"/>
              </a:rPr>
              <a:t>проект</a:t>
            </a:r>
            <a:r>
              <a:rPr sz="1650" b="1" dirty="0">
                <a:solidFill>
                  <a:srgbClr val="F8C46B"/>
                </a:solidFill>
                <a:latin typeface="Arial"/>
                <a:ea typeface="Arial"/>
                <a:cs typeface="Arial"/>
              </a:rPr>
              <a:t> и </a:t>
            </a:r>
            <a:r>
              <a:rPr sz="1650" b="1" dirty="0" err="1">
                <a:solidFill>
                  <a:srgbClr val="F8C46B"/>
                </a:solidFill>
                <a:latin typeface="Arial"/>
                <a:ea typeface="Arial"/>
                <a:cs typeface="Arial"/>
              </a:rPr>
              <a:t>пояснительная</a:t>
            </a:r>
            <a:r>
              <a:rPr sz="1650" b="1" dirty="0">
                <a:solidFill>
                  <a:srgbClr val="F8C46B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F8C46B"/>
                </a:solidFill>
                <a:latin typeface="Arial"/>
                <a:ea typeface="Arial"/>
                <a:cs typeface="Arial"/>
              </a:rPr>
              <a:t>записка</a:t>
            </a:r>
            <a:r>
              <a:rPr sz="1650" b="1" dirty="0">
                <a:solidFill>
                  <a:srgbClr val="F8C46B"/>
                </a:solidFill>
                <a:latin typeface="Arial"/>
                <a:ea typeface="Arial"/>
                <a:cs typeface="Arial"/>
              </a:rPr>
              <a:t> с </a:t>
            </a:r>
            <a:r>
              <a:rPr sz="1650" b="1" dirty="0" err="1">
                <a:solidFill>
                  <a:srgbClr val="F8C46B"/>
                </a:solidFill>
                <a:latin typeface="Arial"/>
                <a:ea typeface="Arial"/>
                <a:cs typeface="Arial"/>
              </a:rPr>
              <a:t>архитектурой</a:t>
            </a:r>
            <a:r>
              <a:rPr sz="1650" b="1" dirty="0">
                <a:solidFill>
                  <a:srgbClr val="F8C46B"/>
                </a:solidFill>
                <a:latin typeface="Arial"/>
                <a:ea typeface="Arial"/>
                <a:cs typeface="Arial"/>
              </a:rPr>
              <a:t>, БД, API, </a:t>
            </a:r>
            <a:r>
              <a:rPr sz="1650" b="1" dirty="0" err="1">
                <a:solidFill>
                  <a:srgbClr val="F8C46B"/>
                </a:solidFill>
                <a:latin typeface="Arial"/>
                <a:ea typeface="Arial"/>
                <a:cs typeface="Arial"/>
              </a:rPr>
              <a:t>клиентом</a:t>
            </a:r>
            <a:r>
              <a:rPr sz="1650" b="1" dirty="0">
                <a:solidFill>
                  <a:srgbClr val="F8C46B"/>
                </a:solidFill>
                <a:latin typeface="Arial"/>
                <a:ea typeface="Arial"/>
                <a:cs typeface="Arial"/>
              </a:rPr>
              <a:t> и </a:t>
            </a:r>
            <a:r>
              <a:rPr sz="1650" b="1" dirty="0" err="1">
                <a:solidFill>
                  <a:srgbClr val="F8C46B"/>
                </a:solidFill>
                <a:latin typeface="Arial"/>
                <a:ea typeface="Arial"/>
                <a:cs typeface="Arial"/>
              </a:rPr>
              <a:t>админ-панелью</a:t>
            </a:r>
            <a:r>
              <a:rPr sz="1650" b="1" dirty="0">
                <a:solidFill>
                  <a:srgbClr val="F8C46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1867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80478D35-5B5E-4D00-B5DE-116B579F5E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F216DE-6A93-485F-97C8-9554DDE00E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0707"/>
              </a:gs>
              <a:gs pos="48000">
                <a:srgbClr val="080808"/>
              </a:gs>
              <a:gs pos="100000">
                <a:srgbClr val="17122A"/>
              </a:gs>
            </a:gsLst>
            <a:lin ang="75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B1DB1-DA98-4526-82AC-6A754E16B5A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381000" cy="381000"/>
          </a:xfrm>
          <a:prstGeom prst="rect">
            <a:avLst/>
          </a:prstGeom>
          <a:gradFill>
            <a:gsLst>
              <a:gs pos="0">
                <a:srgbClr val="13D0BB"/>
              </a:gs>
              <a:gs pos="100000">
                <a:srgbClr val="865DFF"/>
              </a:gs>
            </a:gsLst>
            <a:lin ang="8100000"/>
          </a:gradFill>
          <a:ln w="9525">
            <a:solidFill>
              <a:srgbClr val="2B2B2B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511704-C9A7-4CE7-B65C-5B52DEB53A48}"/>
              </a:ext>
            </a:extLst>
          </p:cNvPr>
          <p:cNvSpPr>
            <a:spLocks noGrp="1"/>
          </p:cNvSpPr>
          <p:nvPr/>
        </p:nvSpPr>
        <p:spPr>
          <a:xfrm>
            <a:off x="723900" y="581025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CV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9DF85-7FE2-40DD-8E18-1229860847BF}"/>
              </a:ext>
            </a:extLst>
          </p:cNvPr>
          <p:cNvSpPr>
            <a:spLocks noGrp="1"/>
          </p:cNvSpPr>
          <p:nvPr/>
        </p:nvSpPr>
        <p:spPr>
          <a:xfrm>
            <a:off x="1104900" y="5524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ChessView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B1E955-E879-4F4F-8C04-AF4FCC0FBCFC}"/>
              </a:ext>
            </a:extLst>
          </p:cNvPr>
          <p:cNvSpPr>
            <a:spLocks noGrp="1"/>
          </p:cNvSpPr>
          <p:nvPr/>
        </p:nvSpPr>
        <p:spPr>
          <a:xfrm>
            <a:off x="9525000" y="5524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B5A9"/>
                </a:solidFill>
                <a:latin typeface="Arial"/>
                <a:ea typeface="Arial"/>
                <a:cs typeface="Arial"/>
              </a:rPr>
              <a:t>Технологии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16CA91-EFAD-4555-AEA3-D3CD8F9C935C}"/>
              </a:ext>
            </a:extLst>
          </p:cNvPr>
          <p:cNvSpPr>
            <a:spLocks noGrp="1"/>
          </p:cNvSpPr>
          <p:nvPr/>
        </p:nvSpPr>
        <p:spPr>
          <a:xfrm>
            <a:off x="11144250" y="5524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865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65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018721-490B-440C-9183-13D33D021D09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9525"/>
          </a:xfrm>
          <a:prstGeom prst="rect">
            <a:avLst/>
          </a:prstGeom>
          <a:solidFill>
            <a:srgbClr val="2A2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38AB4D-77D8-4E73-872F-66BB080CE36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6572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Использованные технологии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78EBC4-DBD7-4923-9A5B-0BFE5EECF876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609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Стек выбран так, чтобы показать полный цикл разработки: интерфейс, API, real-time канал, хранение данных и запуск.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47FBC5-D891-4416-8A22-1AC0C5BB2B08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3190875" cy="2571750"/>
          </a:xfrm>
          <a:prstGeom prst="rect">
            <a:avLst/>
          </a:prstGeom>
          <a:solidFill>
            <a:srgbClr val="11110F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E43DE8-B99A-4BDC-8AFF-DC6FB71AA218}"/>
              </a:ext>
            </a:extLst>
          </p:cNvPr>
          <p:cNvSpPr>
            <a:spLocks noGrp="1"/>
          </p:cNvSpPr>
          <p:nvPr/>
        </p:nvSpPr>
        <p:spPr>
          <a:xfrm>
            <a:off x="914400" y="31813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88C76A-5D6F-4B43-AA88-863882161D3D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B8CF40-84F7-474B-BB25-8C09D050D2D8}"/>
              </a:ext>
            </a:extLst>
          </p:cNvPr>
          <p:cNvSpPr>
            <a:spLocks noGrp="1"/>
          </p:cNvSpPr>
          <p:nvPr/>
        </p:nvSpPr>
        <p:spPr>
          <a:xfrm>
            <a:off x="1123950" y="36766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React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0BE179-1541-4AA6-B6F8-EDA7C26537F8}"/>
              </a:ext>
            </a:extLst>
          </p:cNvPr>
          <p:cNvSpPr>
            <a:spLocks noGrp="1"/>
          </p:cNvSpPr>
          <p:nvPr/>
        </p:nvSpPr>
        <p:spPr>
          <a:xfrm>
            <a:off x="914400" y="4029075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90A418-6417-4337-A37E-ED89CD5EABB5}"/>
              </a:ext>
            </a:extLst>
          </p:cNvPr>
          <p:cNvSpPr>
            <a:spLocks noGrp="1"/>
          </p:cNvSpPr>
          <p:nvPr/>
        </p:nvSpPr>
        <p:spPr>
          <a:xfrm>
            <a:off x="1123950" y="3971925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TypeScript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172A6E-8D51-447B-95B5-85923DE36AFD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885BB6-490E-4EC1-92F5-0492BF9BF6A8}"/>
              </a:ext>
            </a:extLst>
          </p:cNvPr>
          <p:cNvSpPr>
            <a:spLocks noGrp="1"/>
          </p:cNvSpPr>
          <p:nvPr/>
        </p:nvSpPr>
        <p:spPr>
          <a:xfrm>
            <a:off x="1123950" y="42672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Vite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C29727-AC7F-42A5-BCCC-4CA38BF1304F}"/>
              </a:ext>
            </a:extLst>
          </p:cNvPr>
          <p:cNvSpPr>
            <a:spLocks noGrp="1"/>
          </p:cNvSpPr>
          <p:nvPr/>
        </p:nvSpPr>
        <p:spPr>
          <a:xfrm>
            <a:off x="914400" y="4619625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BB900F-F995-48A9-92FF-CF39B4B7465B}"/>
              </a:ext>
            </a:extLst>
          </p:cNvPr>
          <p:cNvSpPr>
            <a:spLocks noGrp="1"/>
          </p:cNvSpPr>
          <p:nvPr/>
        </p:nvSpPr>
        <p:spPr>
          <a:xfrm>
            <a:off x="1123950" y="4562475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TanStack Query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23B1A4-0F36-45ED-AF16-6475E3840327}"/>
              </a:ext>
            </a:extLst>
          </p:cNvPr>
          <p:cNvSpPr>
            <a:spLocks noGrp="1"/>
          </p:cNvSpPr>
          <p:nvPr/>
        </p:nvSpPr>
        <p:spPr>
          <a:xfrm>
            <a:off x="914400" y="4914900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A25EB9-587D-4668-8F9B-18200ACFD50F}"/>
              </a:ext>
            </a:extLst>
          </p:cNvPr>
          <p:cNvSpPr>
            <a:spLocks noGrp="1"/>
          </p:cNvSpPr>
          <p:nvPr/>
        </p:nvSpPr>
        <p:spPr>
          <a:xfrm>
            <a:off x="1123950" y="48577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Zustand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FA231C-869D-4107-8E48-F5C4CBDD958E}"/>
              </a:ext>
            </a:extLst>
          </p:cNvPr>
          <p:cNvSpPr>
            <a:spLocks noGrp="1"/>
          </p:cNvSpPr>
          <p:nvPr/>
        </p:nvSpPr>
        <p:spPr>
          <a:xfrm>
            <a:off x="914400" y="5210175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F21D7A-D3E4-47EE-A46B-9404E945C32F}"/>
              </a:ext>
            </a:extLst>
          </p:cNvPr>
          <p:cNvSpPr>
            <a:spLocks noGrp="1"/>
          </p:cNvSpPr>
          <p:nvPr/>
        </p:nvSpPr>
        <p:spPr>
          <a:xfrm>
            <a:off x="1123950" y="5153025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React Router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E63A5B-C97B-45A0-A908-CB7C38888CE2}"/>
              </a:ext>
            </a:extLst>
          </p:cNvPr>
          <p:cNvSpPr>
            <a:spLocks noGrp="1"/>
          </p:cNvSpPr>
          <p:nvPr/>
        </p:nvSpPr>
        <p:spPr>
          <a:xfrm>
            <a:off x="4162425" y="2952750"/>
            <a:ext cx="3190875" cy="2571750"/>
          </a:xfrm>
          <a:prstGeom prst="rect">
            <a:avLst/>
          </a:prstGeom>
          <a:solidFill>
            <a:srgbClr val="11110F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F4C860-ED5A-4575-A852-583BE7340B8F}"/>
              </a:ext>
            </a:extLst>
          </p:cNvPr>
          <p:cNvSpPr>
            <a:spLocks noGrp="1"/>
          </p:cNvSpPr>
          <p:nvPr/>
        </p:nvSpPr>
        <p:spPr>
          <a:xfrm>
            <a:off x="4391025" y="31813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DBEB74-F628-443F-9A6D-4BF08398412A}"/>
              </a:ext>
            </a:extLst>
          </p:cNvPr>
          <p:cNvSpPr>
            <a:spLocks noGrp="1"/>
          </p:cNvSpPr>
          <p:nvPr/>
        </p:nvSpPr>
        <p:spPr>
          <a:xfrm>
            <a:off x="4391025" y="3733800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5A0438-107B-44BC-B787-EA7DE261CCCF}"/>
              </a:ext>
            </a:extLst>
          </p:cNvPr>
          <p:cNvSpPr>
            <a:spLocks noGrp="1"/>
          </p:cNvSpPr>
          <p:nvPr/>
        </p:nvSpPr>
        <p:spPr>
          <a:xfrm>
            <a:off x="4600575" y="36766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E9433F-2128-4404-A26A-6460855F9404}"/>
              </a:ext>
            </a:extLst>
          </p:cNvPr>
          <p:cNvSpPr>
            <a:spLocks noGrp="1"/>
          </p:cNvSpPr>
          <p:nvPr/>
        </p:nvSpPr>
        <p:spPr>
          <a:xfrm>
            <a:off x="4391025" y="4029075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918EF3-B18A-4308-A903-1E39D4699FF8}"/>
              </a:ext>
            </a:extLst>
          </p:cNvPr>
          <p:cNvSpPr>
            <a:spLocks noGrp="1"/>
          </p:cNvSpPr>
          <p:nvPr/>
        </p:nvSpPr>
        <p:spPr>
          <a:xfrm>
            <a:off x="4600575" y="3971925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7CC7F0-3F29-4DF1-84C5-955EBDCADCF3}"/>
              </a:ext>
            </a:extLst>
          </p:cNvPr>
          <p:cNvSpPr>
            <a:spLocks noGrp="1"/>
          </p:cNvSpPr>
          <p:nvPr/>
        </p:nvSpPr>
        <p:spPr>
          <a:xfrm>
            <a:off x="4391025" y="4324350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EF103B-3985-4BA8-B695-8CA308000D26}"/>
              </a:ext>
            </a:extLst>
          </p:cNvPr>
          <p:cNvSpPr>
            <a:spLocks noGrp="1"/>
          </p:cNvSpPr>
          <p:nvPr/>
        </p:nvSpPr>
        <p:spPr>
          <a:xfrm>
            <a:off x="4600575" y="42672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Uvicorn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8347D2-8D50-4CB5-8E6D-CD40ECDE09AA}"/>
              </a:ext>
            </a:extLst>
          </p:cNvPr>
          <p:cNvSpPr>
            <a:spLocks noGrp="1"/>
          </p:cNvSpPr>
          <p:nvPr/>
        </p:nvSpPr>
        <p:spPr>
          <a:xfrm>
            <a:off x="4391025" y="4619625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F7DA6B-3D8D-44CF-925C-E176D9C219FD}"/>
              </a:ext>
            </a:extLst>
          </p:cNvPr>
          <p:cNvSpPr>
            <a:spLocks noGrp="1"/>
          </p:cNvSpPr>
          <p:nvPr/>
        </p:nvSpPr>
        <p:spPr>
          <a:xfrm>
            <a:off x="4600575" y="4562475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SQLAlchemy async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1179C2-7A11-4A5B-ABA3-90025E14BDC0}"/>
              </a:ext>
            </a:extLst>
          </p:cNvPr>
          <p:cNvSpPr>
            <a:spLocks noGrp="1"/>
          </p:cNvSpPr>
          <p:nvPr/>
        </p:nvSpPr>
        <p:spPr>
          <a:xfrm>
            <a:off x="4391025" y="4914900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B8AB55-4528-4FC0-AD90-10C2AF72F8CB}"/>
              </a:ext>
            </a:extLst>
          </p:cNvPr>
          <p:cNvSpPr>
            <a:spLocks noGrp="1"/>
          </p:cNvSpPr>
          <p:nvPr/>
        </p:nvSpPr>
        <p:spPr>
          <a:xfrm>
            <a:off x="4600575" y="48577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Alembic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8175BF-3B37-434C-9904-6C6BD2BE0C4A}"/>
              </a:ext>
            </a:extLst>
          </p:cNvPr>
          <p:cNvSpPr>
            <a:spLocks noGrp="1"/>
          </p:cNvSpPr>
          <p:nvPr/>
        </p:nvSpPr>
        <p:spPr>
          <a:xfrm>
            <a:off x="4391025" y="5210175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B84CAD-863B-4983-9045-BFF8F9FAE403}"/>
              </a:ext>
            </a:extLst>
          </p:cNvPr>
          <p:cNvSpPr>
            <a:spLocks noGrp="1"/>
          </p:cNvSpPr>
          <p:nvPr/>
        </p:nvSpPr>
        <p:spPr>
          <a:xfrm>
            <a:off x="4600575" y="5153025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python-chess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BE560D-C3DE-4012-90E1-6DBFBC13C965}"/>
              </a:ext>
            </a:extLst>
          </p:cNvPr>
          <p:cNvSpPr>
            <a:spLocks noGrp="1"/>
          </p:cNvSpPr>
          <p:nvPr/>
        </p:nvSpPr>
        <p:spPr>
          <a:xfrm>
            <a:off x="7639050" y="2952750"/>
            <a:ext cx="3190875" cy="2571750"/>
          </a:xfrm>
          <a:prstGeom prst="rect">
            <a:avLst/>
          </a:prstGeom>
          <a:solidFill>
            <a:srgbClr val="11110F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32659DB-EF0E-41C9-9942-71834441077E}"/>
              </a:ext>
            </a:extLst>
          </p:cNvPr>
          <p:cNvSpPr>
            <a:spLocks noGrp="1"/>
          </p:cNvSpPr>
          <p:nvPr/>
        </p:nvSpPr>
        <p:spPr>
          <a:xfrm>
            <a:off x="7867650" y="31813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Data / Infra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8B081D5-3205-48B4-9446-73F52C8D891F}"/>
              </a:ext>
            </a:extLst>
          </p:cNvPr>
          <p:cNvSpPr>
            <a:spLocks noGrp="1"/>
          </p:cNvSpPr>
          <p:nvPr/>
        </p:nvSpPr>
        <p:spPr>
          <a:xfrm>
            <a:off x="7867650" y="3733800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A6EF03F-6F54-4B85-833F-D180E956E756}"/>
              </a:ext>
            </a:extLst>
          </p:cNvPr>
          <p:cNvSpPr>
            <a:spLocks noGrp="1"/>
          </p:cNvSpPr>
          <p:nvPr/>
        </p:nvSpPr>
        <p:spPr>
          <a:xfrm>
            <a:off x="8077200" y="36766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16B3F7F-90A1-4599-89DE-A147267F11FC}"/>
              </a:ext>
            </a:extLst>
          </p:cNvPr>
          <p:cNvSpPr>
            <a:spLocks noGrp="1"/>
          </p:cNvSpPr>
          <p:nvPr/>
        </p:nvSpPr>
        <p:spPr>
          <a:xfrm>
            <a:off x="7867650" y="4029075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DA96917-2820-4740-B2DF-6C323CE6BBE3}"/>
              </a:ext>
            </a:extLst>
          </p:cNvPr>
          <p:cNvSpPr>
            <a:spLocks noGrp="1"/>
          </p:cNvSpPr>
          <p:nvPr/>
        </p:nvSpPr>
        <p:spPr>
          <a:xfrm>
            <a:off x="8077200" y="3971925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Docker Compose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DA78DDA-3700-4626-985F-36128235D07F}"/>
              </a:ext>
            </a:extLst>
          </p:cNvPr>
          <p:cNvSpPr>
            <a:spLocks noGrp="1"/>
          </p:cNvSpPr>
          <p:nvPr/>
        </p:nvSpPr>
        <p:spPr>
          <a:xfrm>
            <a:off x="7867650" y="4324350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29D5C0F-8D55-47E0-BFE2-326466ED2008}"/>
              </a:ext>
            </a:extLst>
          </p:cNvPr>
          <p:cNvSpPr>
            <a:spLocks noGrp="1"/>
          </p:cNvSpPr>
          <p:nvPr/>
        </p:nvSpPr>
        <p:spPr>
          <a:xfrm>
            <a:off x="8077200" y="42672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JWT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55AA2B3-FA79-4C9B-B59C-B51FBE18D267}"/>
              </a:ext>
            </a:extLst>
          </p:cNvPr>
          <p:cNvSpPr>
            <a:spLocks noGrp="1"/>
          </p:cNvSpPr>
          <p:nvPr/>
        </p:nvSpPr>
        <p:spPr>
          <a:xfrm>
            <a:off x="7867650" y="4619625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10B07D6-FF1E-40A8-A6B4-3A127E7744E7}"/>
              </a:ext>
            </a:extLst>
          </p:cNvPr>
          <p:cNvSpPr>
            <a:spLocks noGrp="1"/>
          </p:cNvSpPr>
          <p:nvPr/>
        </p:nvSpPr>
        <p:spPr>
          <a:xfrm>
            <a:off x="8077200" y="4562475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WebSocket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B3C3FFF-A151-4813-B9E3-47BD35F638E7}"/>
              </a:ext>
            </a:extLst>
          </p:cNvPr>
          <p:cNvSpPr>
            <a:spLocks noGrp="1"/>
          </p:cNvSpPr>
          <p:nvPr/>
        </p:nvSpPr>
        <p:spPr>
          <a:xfrm>
            <a:off x="7867650" y="4914900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C960A47-4D29-4480-ABAA-C5F2AF808854}"/>
              </a:ext>
            </a:extLst>
          </p:cNvPr>
          <p:cNvSpPr>
            <a:spLocks noGrp="1"/>
          </p:cNvSpPr>
          <p:nvPr/>
        </p:nvSpPr>
        <p:spPr>
          <a:xfrm>
            <a:off x="8077200" y="48577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C45428D-A20F-42CE-B648-A92B3B0F36F7}"/>
              </a:ext>
            </a:extLst>
          </p:cNvPr>
          <p:cNvSpPr>
            <a:spLocks noGrp="1"/>
          </p:cNvSpPr>
          <p:nvPr/>
        </p:nvSpPr>
        <p:spPr>
          <a:xfrm>
            <a:off x="7867650" y="5210175"/>
            <a:ext cx="76200" cy="76200"/>
          </a:xfrm>
          <a:prstGeom prst="rect">
            <a:avLst/>
          </a:prstGeom>
          <a:solidFill>
            <a:srgbClr val="865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9FB5D68-6731-4D31-8082-E8B36ACA90D5}"/>
              </a:ext>
            </a:extLst>
          </p:cNvPr>
          <p:cNvSpPr>
            <a:spLocks noGrp="1"/>
          </p:cNvSpPr>
          <p:nvPr/>
        </p:nvSpPr>
        <p:spPr>
          <a:xfrm>
            <a:off x="8077200" y="5153025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DB5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B5A9"/>
                </a:solidFill>
                <a:latin typeface="Arial"/>
                <a:ea typeface="Arial"/>
                <a:cs typeface="Arial"/>
              </a:rPr>
              <a:t>ESLint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6FEC6B5-AA48-404C-A56D-82E00E036774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676400" cy="323850"/>
          </a:xfrm>
          <a:prstGeom prst="rect">
            <a:avLst/>
          </a:prstGeom>
          <a:solidFill>
            <a:srgbClr val="111111"/>
          </a:solidFill>
          <a:ln w="9525">
            <a:solidFill>
              <a:srgbClr val="13D0BB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2168911-29ED-4CFD-B04E-BD237F28B54F}"/>
              </a:ext>
            </a:extLst>
          </p:cNvPr>
          <p:cNvSpPr>
            <a:spLocks noGrp="1"/>
          </p:cNvSpPr>
          <p:nvPr/>
        </p:nvSpPr>
        <p:spPr>
          <a:xfrm>
            <a:off x="800100" y="59817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3D0B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D0BB"/>
                </a:solidFill>
                <a:latin typeface="Arial"/>
                <a:ea typeface="Arial"/>
                <a:cs typeface="Arial"/>
              </a:rPr>
              <a:t>REST API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7BD21A0-E38B-4DC0-AF69-CA74D72C27CE}"/>
              </a:ext>
            </a:extLst>
          </p:cNvPr>
          <p:cNvSpPr>
            <a:spLocks noGrp="1"/>
          </p:cNvSpPr>
          <p:nvPr/>
        </p:nvSpPr>
        <p:spPr>
          <a:xfrm>
            <a:off x="2552700" y="5905500"/>
            <a:ext cx="1676400" cy="323850"/>
          </a:xfrm>
          <a:prstGeom prst="rect">
            <a:avLst/>
          </a:prstGeom>
          <a:solidFill>
            <a:srgbClr val="111111"/>
          </a:solidFill>
          <a:ln w="9525">
            <a:solidFill>
              <a:srgbClr val="865DFF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001FD5B-E204-4AB9-801E-FAC6F18E79BB}"/>
              </a:ext>
            </a:extLst>
          </p:cNvPr>
          <p:cNvSpPr>
            <a:spLocks noGrp="1"/>
          </p:cNvSpPr>
          <p:nvPr/>
        </p:nvSpPr>
        <p:spPr>
          <a:xfrm>
            <a:off x="2667000" y="59817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865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65DFF"/>
                </a:solidFill>
                <a:latin typeface="Arial"/>
                <a:ea typeface="Arial"/>
                <a:cs typeface="Arial"/>
              </a:rPr>
              <a:t>WebSocket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1B6E72A-F3E3-4C14-B23A-00D051867937}"/>
              </a:ext>
            </a:extLst>
          </p:cNvPr>
          <p:cNvSpPr>
            <a:spLocks noGrp="1"/>
          </p:cNvSpPr>
          <p:nvPr/>
        </p:nvSpPr>
        <p:spPr>
          <a:xfrm>
            <a:off x="4419600" y="5905500"/>
            <a:ext cx="1676400" cy="323850"/>
          </a:xfrm>
          <a:prstGeom prst="rect">
            <a:avLst/>
          </a:prstGeom>
          <a:solidFill>
            <a:srgbClr val="111111"/>
          </a:solidFill>
          <a:ln w="9525">
            <a:solidFill>
              <a:srgbClr val="7DDC97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5EA6322-115C-4D27-AE83-C103F7CEB1C6}"/>
              </a:ext>
            </a:extLst>
          </p:cNvPr>
          <p:cNvSpPr>
            <a:spLocks noGrp="1"/>
          </p:cNvSpPr>
          <p:nvPr/>
        </p:nvSpPr>
        <p:spPr>
          <a:xfrm>
            <a:off x="4533900" y="59817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7DDC9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DDC97"/>
                </a:solidFill>
                <a:latin typeface="Arial"/>
                <a:ea typeface="Arial"/>
                <a:cs typeface="Arial"/>
              </a:rPr>
              <a:t>ERD + PostgreSQL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FD40F5D-33B6-4C6C-AFAA-50CB6F571C50}"/>
              </a:ext>
            </a:extLst>
          </p:cNvPr>
          <p:cNvSpPr>
            <a:spLocks noGrp="1"/>
          </p:cNvSpPr>
          <p:nvPr/>
        </p:nvSpPr>
        <p:spPr>
          <a:xfrm>
            <a:off x="6286500" y="5905500"/>
            <a:ext cx="1676400" cy="323850"/>
          </a:xfrm>
          <a:prstGeom prst="rect">
            <a:avLst/>
          </a:prstGeom>
          <a:solidFill>
            <a:srgbClr val="111111"/>
          </a:solidFill>
          <a:ln w="9525">
            <a:solidFill>
              <a:srgbClr val="F8C46B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B46B3CC-E15C-4394-8206-28311D3F80BA}"/>
              </a:ext>
            </a:extLst>
          </p:cNvPr>
          <p:cNvSpPr>
            <a:spLocks noGrp="1"/>
          </p:cNvSpPr>
          <p:nvPr/>
        </p:nvSpPr>
        <p:spPr>
          <a:xfrm>
            <a:off x="6400800" y="59817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8C4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8C46B"/>
                </a:solidFill>
                <a:latin typeface="Arial"/>
                <a:ea typeface="Arial"/>
                <a:cs typeface="Arial"/>
              </a:rPr>
              <a:t>Admin panel</a:t>
            </a:r>
          </a:p>
        </p:txBody>
      </p:sp>
    </p:spTree>
    <p:extLst>
      <p:ext uri="{BB962C8B-B14F-4D97-AF65-F5344CB8AC3E}">
        <p14:creationId xmlns:p14="http://schemas.microsoft.com/office/powerpoint/2010/main" val="4803687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Microsoft Office PowerPoint</Application>
  <DocSecurity>0</DocSecurity>
  <PresentationFormat>Widescreen</PresentationFormat>
  <Paragraphs>80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Anek</cp:lastModifiedBy>
  <cp:revision>1</cp:revision>
  <dcterms:created xsi:type="dcterms:W3CDTF">2026-06-01T06:37:18Z</dcterms:created>
  <dcterms:modified xsi:type="dcterms:W3CDTF">2026-06-01T11:06:13Z</dcterms:modified>
</cp:coreProperties>
</file>